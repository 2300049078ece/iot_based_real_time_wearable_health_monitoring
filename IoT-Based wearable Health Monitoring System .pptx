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3" r:id="rId3"/>
    <p:sldId id="284" r:id="rId4"/>
    <p:sldId id="289" r:id="rId5"/>
    <p:sldId id="287" r:id="rId6"/>
    <p:sldId id="290" r:id="rId7"/>
    <p:sldId id="291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114" y="3101676"/>
            <a:ext cx="9085107" cy="2541431"/>
          </a:xfrm>
        </p:spPr>
        <p:txBody>
          <a:bodyPr>
            <a:normAutofit/>
          </a:bodyPr>
          <a:lstStyle/>
          <a:p>
            <a:br>
              <a:rPr lang="en-US" alt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FE62525-63E5-1EB1-332A-7A9FD32DFF9A}"/>
              </a:ext>
            </a:extLst>
          </p:cNvPr>
          <p:cNvSpPr/>
          <p:nvPr/>
        </p:nvSpPr>
        <p:spPr>
          <a:xfrm>
            <a:off x="3755917" y="3633397"/>
            <a:ext cx="7132907" cy="147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Google Shape;475;p16">
            <a:extLst>
              <a:ext uri="{FF2B5EF4-FFF2-40B4-BE49-F238E27FC236}">
                <a16:creationId xmlns:a16="http://schemas.microsoft.com/office/drawing/2014/main" id="{E207B115-702F-710B-62E1-1D21910886F8}"/>
              </a:ext>
            </a:extLst>
          </p:cNvPr>
          <p:cNvSpPr txBox="1"/>
          <p:nvPr/>
        </p:nvSpPr>
        <p:spPr>
          <a:xfrm>
            <a:off x="3798276" y="612743"/>
            <a:ext cx="4683251" cy="8309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gency FB" panose="020B0503020202020204" pitchFamily="34" charset="0"/>
                <a:cs typeface="Poppins" pitchFamily="2" charset="77"/>
              </a:rPr>
              <a:t>Department of ECE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3F023-39E4-B4AD-8113-3643E3DE0E0A}"/>
              </a:ext>
            </a:extLst>
          </p:cNvPr>
          <p:cNvSpPr txBox="1"/>
          <p:nvPr/>
        </p:nvSpPr>
        <p:spPr>
          <a:xfrm>
            <a:off x="3097762" y="1757968"/>
            <a:ext cx="64754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IoT-Based Smart Health Monitoring System</a:t>
            </a:r>
            <a:endParaRPr lang="en-US" sz="2800" b="1" dirty="0"/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0CFBECE2-1CC8-4690-BFB3-76737F58E7B0}"/>
              </a:ext>
            </a:extLst>
          </p:cNvPr>
          <p:cNvSpPr/>
          <p:nvPr/>
        </p:nvSpPr>
        <p:spPr>
          <a:xfrm>
            <a:off x="808129" y="3698796"/>
            <a:ext cx="4579266" cy="2347440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GUIDED BY:-</a:t>
            </a:r>
          </a:p>
          <a:p>
            <a:pPr lvl="0" algn="ctr"/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Dr.N.PRABAKARAN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Associate Professor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Dept of ECE</a:t>
            </a:r>
          </a:p>
        </p:txBody>
      </p:sp>
      <p:sp>
        <p:nvSpPr>
          <p:cNvPr id="9" name="Google Shape;502;p17">
            <a:extLst>
              <a:ext uri="{FF2B5EF4-FFF2-40B4-BE49-F238E27FC236}">
                <a16:creationId xmlns:a16="http://schemas.microsoft.com/office/drawing/2014/main" id="{97D1DDCD-CC31-46CC-BA8A-469EB5095811}"/>
              </a:ext>
            </a:extLst>
          </p:cNvPr>
          <p:cNvSpPr/>
          <p:nvPr/>
        </p:nvSpPr>
        <p:spPr>
          <a:xfrm>
            <a:off x="6602036" y="3698796"/>
            <a:ext cx="4579266" cy="2347440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PRESENTED BY:-</a:t>
            </a:r>
          </a:p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K. PARDHU(2300049078)</a:t>
            </a:r>
          </a:p>
          <a:p>
            <a:pPr lvl="0"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K.SAI CHARAN(2300049092)</a:t>
            </a:r>
          </a:p>
          <a:p>
            <a:pPr lvl="0"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G.VARSHITH(2300049093)</a:t>
            </a: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7E47-62EC-8C64-D76F-CCD10FC6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D42B-CF7A-9ACF-CE73-633428E2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develop a portable IoT-based system that continuously monitors vital health parameters (heart rate, SpO₂, and body temperature) in real time and remotely alerts caregivers in case of abnormal conditions.</a:t>
            </a:r>
          </a:p>
          <a:p>
            <a:r>
              <a:rPr lang="en-US" dirty="0"/>
              <a:t>Continuous real-time monitoring of vital parameters such as heart rate, oxygen saturation (SpO₂), and body temperature using sensors connected to the ESP32.</a:t>
            </a:r>
          </a:p>
          <a:p>
            <a:r>
              <a:rPr lang="en-US" dirty="0"/>
              <a:t>Early detection of abnormal health conditions with automatic alerts/notifications for quick medical response and improved patient safety.</a:t>
            </a:r>
          </a:p>
          <a:p>
            <a:r>
              <a:rPr lang="en-US" dirty="0"/>
              <a:t>Development of a low-cost, portable and battery-powered smart healthcare device that reduces hospital visits and supports home-based patient care.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56BE2-F296-2040-24C8-4327DFEA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582FA71A-5069-A5B7-19DF-2691149AF2C5}"/>
              </a:ext>
            </a:extLst>
          </p:cNvPr>
          <p:cNvSpPr/>
          <p:nvPr/>
        </p:nvSpPr>
        <p:spPr>
          <a:xfrm>
            <a:off x="4172640" y="966430"/>
            <a:ext cx="4028968" cy="66642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Objective</a:t>
            </a:r>
            <a:endParaRPr lang="en-US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41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61CB-8412-E16B-0902-693150CE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586" y="804519"/>
            <a:ext cx="9603275" cy="1049235"/>
          </a:xfrm>
        </p:spPr>
        <p:txBody>
          <a:bodyPr/>
          <a:lstStyle/>
          <a:p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2E71-51E7-3610-C804-053768924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Patients, especially elderly and chronically ill, need continuous monitoring of vital signs, but regular hospital visits and manual checking are costly and time-consuming. Hence, a low-cost IoT-based system is required to monitor health parameters in real time and remotely alert caregivers during abnormal conditions.</a:t>
            </a:r>
          </a:p>
          <a:p>
            <a:r>
              <a:rPr lang="en-US" dirty="0"/>
              <a:t>Continuous manual monitoring is difficult, and delayed detection of abnormal vital signs can risk patient safety; therefore, a real-time remote health monitoring system is required.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1341-560E-9906-D678-F26D67B1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AE51C6BE-0A84-8CFF-7148-5F48375C4329}"/>
              </a:ext>
            </a:extLst>
          </p:cNvPr>
          <p:cNvSpPr/>
          <p:nvPr/>
        </p:nvSpPr>
        <p:spPr>
          <a:xfrm>
            <a:off x="4172640" y="957099"/>
            <a:ext cx="4028968" cy="66642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</a:t>
            </a:r>
            <a:r>
              <a:rPr lang="en-US" sz="2400" dirty="0">
                <a:latin typeface="+mj-lt"/>
              </a:rPr>
              <a:t>oblem Statement</a:t>
            </a:r>
            <a:endParaRPr lang="en-US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75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59B7C-925E-AFD1-1EA3-F9758A6F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B97957-EF8E-A239-B180-8B2EE9551EAF}"/>
              </a:ext>
            </a:extLst>
          </p:cNvPr>
          <p:cNvSpPr/>
          <p:nvPr/>
        </p:nvSpPr>
        <p:spPr>
          <a:xfrm>
            <a:off x="1276366" y="150352"/>
            <a:ext cx="10284263" cy="730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TOOLS TO BE USED FOR HARDWARE AND SOFTWARE</a:t>
            </a:r>
          </a:p>
        </p:txBody>
      </p:sp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6B19DAD2-D555-3539-107A-1AEC4324A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760" y="910687"/>
            <a:ext cx="7664478" cy="51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1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C1F99A-9FAA-CDC7-655B-3F22F5C3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6C610D-5447-3C6E-A0BA-45D2FA8634B6}"/>
              </a:ext>
            </a:extLst>
          </p:cNvPr>
          <p:cNvSpPr/>
          <p:nvPr/>
        </p:nvSpPr>
        <p:spPr>
          <a:xfrm>
            <a:off x="4309379" y="1003071"/>
            <a:ext cx="2371531" cy="38791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sz="3200" dirty="0">
                <a:solidFill>
                  <a:srgbClr val="FF0000"/>
                </a:solidFill>
              </a:rPr>
              <a:t>ESP32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330A78-8645-75C3-A4D0-1D42B495C91B}"/>
              </a:ext>
            </a:extLst>
          </p:cNvPr>
          <p:cNvSpPr/>
          <p:nvPr/>
        </p:nvSpPr>
        <p:spPr>
          <a:xfrm>
            <a:off x="1240973" y="692885"/>
            <a:ext cx="1838131" cy="13199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SpO₂&amp;Heart Rate sensor</a:t>
            </a:r>
          </a:p>
          <a:p>
            <a:pPr algn="ctr"/>
            <a:r>
              <a:rPr lang="en-IN" dirty="0"/>
              <a:t>(MAX30102</a:t>
            </a:r>
            <a:r>
              <a:rPr lang="en-IN" b="1" dirty="0"/>
              <a:t>)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2FDE55-DC17-557B-F5C4-370472C7D76A}"/>
              </a:ext>
            </a:extLst>
          </p:cNvPr>
          <p:cNvSpPr/>
          <p:nvPr/>
        </p:nvSpPr>
        <p:spPr>
          <a:xfrm>
            <a:off x="1240972" y="2186746"/>
            <a:ext cx="1838132" cy="13199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Body</a:t>
            </a:r>
          </a:p>
          <a:p>
            <a:pPr algn="ctr"/>
            <a:r>
              <a:rPr lang="en-IN" dirty="0"/>
              <a:t> </a:t>
            </a:r>
            <a:r>
              <a:rPr lang="en-IN" dirty="0" err="1"/>
              <a:t>Temparature</a:t>
            </a:r>
            <a:r>
              <a:rPr lang="en-IN" dirty="0"/>
              <a:t> sensor</a:t>
            </a:r>
          </a:p>
          <a:p>
            <a:pPr algn="ctr"/>
            <a:r>
              <a:rPr lang="en-IN" dirty="0"/>
              <a:t>(MLX90614</a:t>
            </a:r>
            <a:r>
              <a:rPr lang="en-IN" b="1" dirty="0"/>
              <a:t>)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438061-FE6C-C6DC-79C1-22979CBB4E8D}"/>
              </a:ext>
            </a:extLst>
          </p:cNvPr>
          <p:cNvSpPr/>
          <p:nvPr/>
        </p:nvSpPr>
        <p:spPr>
          <a:xfrm>
            <a:off x="4537979" y="5254259"/>
            <a:ext cx="1914331" cy="8397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Battery+TP4065       Charging module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0CEC62-7BE4-6C69-96C7-1C8C3FAE8D44}"/>
              </a:ext>
            </a:extLst>
          </p:cNvPr>
          <p:cNvSpPr/>
          <p:nvPr/>
        </p:nvSpPr>
        <p:spPr>
          <a:xfrm>
            <a:off x="7829353" y="965814"/>
            <a:ext cx="1797698" cy="10960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OLED Display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899DB4-BC77-344C-48D7-6AA521F1B9F4}"/>
              </a:ext>
            </a:extLst>
          </p:cNvPr>
          <p:cNvSpPr/>
          <p:nvPr/>
        </p:nvSpPr>
        <p:spPr>
          <a:xfrm>
            <a:off x="7829353" y="2555228"/>
            <a:ext cx="1797698" cy="10960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Buzzer/Alert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6739DE6-E04D-560D-72EE-F0ABE8E57AA9}"/>
              </a:ext>
            </a:extLst>
          </p:cNvPr>
          <p:cNvCxnSpPr>
            <a:stCxn id="4" idx="3"/>
          </p:cNvCxnSpPr>
          <p:nvPr/>
        </p:nvCxnSpPr>
        <p:spPr>
          <a:xfrm>
            <a:off x="3079104" y="1352867"/>
            <a:ext cx="1238637" cy="65998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82DCABC-DDD5-0C12-44B4-833ABF2C24D5}"/>
              </a:ext>
            </a:extLst>
          </p:cNvPr>
          <p:cNvCxnSpPr>
            <a:stCxn id="9" idx="1"/>
          </p:cNvCxnSpPr>
          <p:nvPr/>
        </p:nvCxnSpPr>
        <p:spPr>
          <a:xfrm rot="10800000" flipV="1">
            <a:off x="6680911" y="1513827"/>
            <a:ext cx="1148442" cy="68797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73CBB5-D5FC-F710-CBA4-2D11A9F58561}"/>
              </a:ext>
            </a:extLst>
          </p:cNvPr>
          <p:cNvCxnSpPr>
            <a:stCxn id="8" idx="0"/>
            <a:endCxn id="3" idx="2"/>
          </p:cNvCxnSpPr>
          <p:nvPr/>
        </p:nvCxnSpPr>
        <p:spPr>
          <a:xfrm flipV="1">
            <a:off x="5495145" y="4882199"/>
            <a:ext cx="0" cy="372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FCCF08-8134-F962-B9C9-80D69E13E07A}"/>
              </a:ext>
            </a:extLst>
          </p:cNvPr>
          <p:cNvSpPr/>
          <p:nvPr/>
        </p:nvSpPr>
        <p:spPr>
          <a:xfrm>
            <a:off x="3930883" y="163316"/>
            <a:ext cx="3519213" cy="630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/>
              <a:t>BLOCK DIAGRAM</a:t>
            </a:r>
            <a:br>
              <a:rPr lang="en-IN" dirty="0"/>
            </a:b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769FDF-D9F2-65EB-DF67-952D9BC9044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79104" y="2846728"/>
            <a:ext cx="12386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B4BFAA-BED5-738B-AB0F-A3046235F929}"/>
              </a:ext>
            </a:extLst>
          </p:cNvPr>
          <p:cNvSpPr/>
          <p:nvPr/>
        </p:nvSpPr>
        <p:spPr>
          <a:xfrm>
            <a:off x="1240972" y="3753072"/>
            <a:ext cx="1838132" cy="13040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Motion Sensor Module</a:t>
            </a:r>
          </a:p>
          <a:p>
            <a:pPr algn="ctr"/>
            <a:r>
              <a:rPr lang="en-IN" dirty="0"/>
              <a:t>(MPU6050)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E2B76CE-FA33-CFCA-4AB0-AF0009274744}"/>
              </a:ext>
            </a:extLst>
          </p:cNvPr>
          <p:cNvCxnSpPr>
            <a:stCxn id="15" idx="3"/>
          </p:cNvCxnSpPr>
          <p:nvPr/>
        </p:nvCxnSpPr>
        <p:spPr>
          <a:xfrm flipV="1">
            <a:off x="3079104" y="3533017"/>
            <a:ext cx="1238636" cy="87208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516B06-C45C-AB8D-108A-9974693460D6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6680911" y="3080153"/>
            <a:ext cx="1148442" cy="23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0C0A13-07B6-67C7-8626-B77B4B2A7C5E}"/>
              </a:ext>
            </a:extLst>
          </p:cNvPr>
          <p:cNvSpPr/>
          <p:nvPr/>
        </p:nvSpPr>
        <p:spPr>
          <a:xfrm>
            <a:off x="7866675" y="4330309"/>
            <a:ext cx="1797696" cy="12199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Thingspeak</a:t>
            </a:r>
            <a:r>
              <a:rPr lang="en-IN" dirty="0"/>
              <a:t> cloud Platform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699B6E4-784C-B8C6-B237-84B3FD536AB9}"/>
              </a:ext>
            </a:extLst>
          </p:cNvPr>
          <p:cNvCxnSpPr>
            <a:stCxn id="27" idx="1"/>
          </p:cNvCxnSpPr>
          <p:nvPr/>
        </p:nvCxnSpPr>
        <p:spPr>
          <a:xfrm rot="10800000">
            <a:off x="6680911" y="4022784"/>
            <a:ext cx="1185765" cy="91748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82A0E18-F1AD-762B-1A91-41A79A8BB153}"/>
              </a:ext>
            </a:extLst>
          </p:cNvPr>
          <p:cNvSpPr/>
          <p:nvPr/>
        </p:nvSpPr>
        <p:spPr>
          <a:xfrm>
            <a:off x="10262118" y="4572000"/>
            <a:ext cx="1377820" cy="7651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Mobile Application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E7869A-DAB9-F79A-9A56-91775C43D479}"/>
              </a:ext>
            </a:extLst>
          </p:cNvPr>
          <p:cNvCxnSpPr>
            <a:stCxn id="27" idx="3"/>
            <a:endCxn id="37" idx="1"/>
          </p:cNvCxnSpPr>
          <p:nvPr/>
        </p:nvCxnSpPr>
        <p:spPr>
          <a:xfrm>
            <a:off x="9664371" y="4940264"/>
            <a:ext cx="597747" cy="14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37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24FB3-A122-25A1-05EB-1A6AF44A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44CBEDF2-B201-955B-3F9C-1C5506ACDD54}"/>
              </a:ext>
            </a:extLst>
          </p:cNvPr>
          <p:cNvSpPr/>
          <p:nvPr/>
        </p:nvSpPr>
        <p:spPr>
          <a:xfrm>
            <a:off x="4116320" y="497439"/>
            <a:ext cx="3376361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Methodology / Working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E39A782-60E8-F100-8B71-C552499D1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29" y="1203419"/>
            <a:ext cx="708439" cy="850146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F6BFA9B-3181-9E31-5500-7A31623F3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29" y="2132696"/>
            <a:ext cx="708439" cy="850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D9759B-DB51-D162-7146-29CA31045A19}"/>
              </a:ext>
            </a:extLst>
          </p:cNvPr>
          <p:cNvSpPr txBox="1"/>
          <p:nvPr/>
        </p:nvSpPr>
        <p:spPr>
          <a:xfrm>
            <a:off x="1567544" y="1203419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Sensor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70515-3139-2B54-D5EE-633E75BAB3EC}"/>
              </a:ext>
            </a:extLst>
          </p:cNvPr>
          <p:cNvSpPr txBox="1"/>
          <p:nvPr/>
        </p:nvSpPr>
        <p:spPr>
          <a:xfrm>
            <a:off x="1567544" y="1533956"/>
            <a:ext cx="9140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MAX30102, MLX90614 and MPU6050 continuously monitor patient vital signs and movement.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90A9A-5C3C-4AF5-2860-5969E4F5706D}"/>
              </a:ext>
            </a:extLst>
          </p:cNvPr>
          <p:cNvSpPr txBox="1"/>
          <p:nvPr/>
        </p:nvSpPr>
        <p:spPr>
          <a:xfrm>
            <a:off x="1519707" y="213269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DD24A-9C3D-A2E2-62BE-D31831803CA4}"/>
              </a:ext>
            </a:extLst>
          </p:cNvPr>
          <p:cNvSpPr txBox="1"/>
          <p:nvPr/>
        </p:nvSpPr>
        <p:spPr>
          <a:xfrm>
            <a:off x="1519707" y="246323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ESP32 reads and processes sensor data in real time.</a:t>
            </a:r>
            <a:endParaRPr lang="en-IN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8A8B487E-F13E-3689-C174-1F3822934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28" y="3061973"/>
            <a:ext cx="708439" cy="8501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D2B642-13BC-4D43-4BF5-3C10DD6BB2B4}"/>
              </a:ext>
            </a:extLst>
          </p:cNvPr>
          <p:cNvSpPr txBox="1"/>
          <p:nvPr/>
        </p:nvSpPr>
        <p:spPr>
          <a:xfrm>
            <a:off x="1567544" y="306197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Alert Generation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9B728D-0A35-A60E-A9CE-1CCFA8365978}"/>
              </a:ext>
            </a:extLst>
          </p:cNvPr>
          <p:cNvSpPr txBox="1"/>
          <p:nvPr/>
        </p:nvSpPr>
        <p:spPr>
          <a:xfrm>
            <a:off x="1519707" y="3429000"/>
            <a:ext cx="7573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Buzzer alerts when abnormal values or fall condition is detected.</a:t>
            </a: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E02082EE-5AC5-B881-3573-CDD840C75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28" y="4032722"/>
            <a:ext cx="708439" cy="8501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C940224-CB12-8A37-1706-AE981C08AB8D}"/>
              </a:ext>
            </a:extLst>
          </p:cNvPr>
          <p:cNvSpPr txBox="1"/>
          <p:nvPr/>
        </p:nvSpPr>
        <p:spPr>
          <a:xfrm>
            <a:off x="1567544" y="40277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Cloud Upload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A9EC89-83B2-F58A-6A86-1F4392B9B49A}"/>
              </a:ext>
            </a:extLst>
          </p:cNvPr>
          <p:cNvSpPr txBox="1"/>
          <p:nvPr/>
        </p:nvSpPr>
        <p:spPr>
          <a:xfrm>
            <a:off x="1567544" y="437603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ESP32 sends data to </a:t>
            </a:r>
            <a:r>
              <a:rPr lang="en-US" dirty="0" err="1"/>
              <a:t>ThingSpeak</a:t>
            </a:r>
            <a:r>
              <a:rPr lang="en-US" dirty="0"/>
              <a:t> using Wi-Fi connection.</a:t>
            </a:r>
            <a:endParaRPr lang="en-IN" dirty="0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BA757FF0-CFE3-B1A9-80E1-4EB91D714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80" y="5003471"/>
            <a:ext cx="803587" cy="96432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7CB942-EE3B-33DB-08C9-DAF24116AFCA}"/>
              </a:ext>
            </a:extLst>
          </p:cNvPr>
          <p:cNvSpPr txBox="1"/>
          <p:nvPr/>
        </p:nvSpPr>
        <p:spPr>
          <a:xfrm>
            <a:off x="1567544" y="500347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Remote Monitoring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309E99-F64E-999D-D526-58520D3439DB}"/>
              </a:ext>
            </a:extLst>
          </p:cNvPr>
          <p:cNvSpPr txBox="1"/>
          <p:nvPr/>
        </p:nvSpPr>
        <p:spPr>
          <a:xfrm>
            <a:off x="1567544" y="537280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Doctor/caretaker can view live health readings from anywhere.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86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15269D-088E-6AA6-9E10-2159714A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297CEA09-5FCA-04C9-F7C2-A13659783793}"/>
              </a:ext>
            </a:extLst>
          </p:cNvPr>
          <p:cNvSpPr/>
          <p:nvPr/>
        </p:nvSpPr>
        <p:spPr>
          <a:xfrm>
            <a:off x="4555931" y="152617"/>
            <a:ext cx="271251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Flowchart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89B37E-3C43-34FC-6FEC-55AE86C37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53" y="790843"/>
            <a:ext cx="4680893" cy="52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36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21A5E7-4E61-DF8F-E9AF-FC8E6CE2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FA8126E4-85C4-DD21-8CE0-D73754DFF622}"/>
              </a:ext>
            </a:extLst>
          </p:cNvPr>
          <p:cNvSpPr txBox="1">
            <a:spLocks/>
          </p:cNvSpPr>
          <p:nvPr/>
        </p:nvSpPr>
        <p:spPr>
          <a:xfrm>
            <a:off x="3298436" y="409597"/>
            <a:ext cx="5892217" cy="781341"/>
          </a:xfrm>
          <a:prstGeom prst="roundRect">
            <a:avLst/>
          </a:prstGeom>
          <a:solidFill>
            <a:srgbClr val="BA2532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/>
              <a:t>Conclusion &amp; Future Scope</a:t>
            </a:r>
            <a:endParaRPr lang="en-US" sz="24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B14D0-834B-85C3-2A8C-AA21725BD8C9}"/>
              </a:ext>
            </a:extLst>
          </p:cNvPr>
          <p:cNvSpPr txBox="1"/>
          <p:nvPr/>
        </p:nvSpPr>
        <p:spPr>
          <a:xfrm>
            <a:off x="1362268" y="1690502"/>
            <a:ext cx="108297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CONCLUSION :</a:t>
            </a:r>
          </a:p>
          <a:p>
            <a:pPr>
              <a:buNone/>
            </a:pPr>
            <a:r>
              <a:rPr lang="en-US" sz="2400" dirty="0"/>
              <a:t>• Real-time monitoring of heart rate, SpO₂ and body temperature.</a:t>
            </a:r>
            <a:br>
              <a:rPr lang="en-US" sz="2400" dirty="0"/>
            </a:br>
            <a:r>
              <a:rPr lang="en-US" sz="2400" dirty="0"/>
              <a:t>• Data uploaded to </a:t>
            </a:r>
            <a:r>
              <a:rPr lang="en-US" sz="2400" dirty="0" err="1"/>
              <a:t>ThingSpeak</a:t>
            </a:r>
            <a:r>
              <a:rPr lang="en-US" sz="2400" dirty="0"/>
              <a:t> cloud for remote doctor access.</a:t>
            </a:r>
            <a:br>
              <a:rPr lang="en-US" sz="2400" dirty="0"/>
            </a:br>
            <a:r>
              <a:rPr lang="en-US" sz="2400" dirty="0"/>
              <a:t>• Alert and fall detection improves patient safety and care.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753BC-DAB3-3FA5-92BD-943594A0D5C0}"/>
              </a:ext>
            </a:extLst>
          </p:cNvPr>
          <p:cNvSpPr txBox="1"/>
          <p:nvPr/>
        </p:nvSpPr>
        <p:spPr>
          <a:xfrm>
            <a:off x="1278293" y="3429000"/>
            <a:ext cx="100490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Future Scope</a:t>
            </a:r>
          </a:p>
          <a:p>
            <a:pPr>
              <a:buNone/>
            </a:pPr>
            <a:r>
              <a:rPr lang="en-US" sz="2400" dirty="0"/>
              <a:t>•</a:t>
            </a:r>
            <a:r>
              <a:rPr lang="en-US" dirty="0"/>
              <a:t> </a:t>
            </a:r>
            <a:r>
              <a:rPr lang="en-US" sz="2400" dirty="0"/>
              <a:t>Add SMS / mobile notification for emergency situations.</a:t>
            </a:r>
            <a:br>
              <a:rPr lang="en-US" sz="2400" dirty="0"/>
            </a:br>
            <a:r>
              <a:rPr lang="en-US" sz="2400" dirty="0"/>
              <a:t>• Integrate advanced sensors like ECG and blood pressure.</a:t>
            </a:r>
            <a:br>
              <a:rPr lang="en-US" sz="2400" dirty="0"/>
            </a:br>
            <a:r>
              <a:rPr lang="en-US" sz="2400" dirty="0"/>
              <a:t>• Develop mobile app with AI-based health prediction.</a:t>
            </a:r>
          </a:p>
        </p:txBody>
      </p:sp>
    </p:spTree>
    <p:extLst>
      <p:ext uri="{BB962C8B-B14F-4D97-AF65-F5344CB8AC3E}">
        <p14:creationId xmlns:p14="http://schemas.microsoft.com/office/powerpoint/2010/main" val="160844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C6ED9-90B4-9834-CD76-4C0B8979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56110EB-8409-DDD9-58C5-422C9655160B}"/>
              </a:ext>
            </a:extLst>
          </p:cNvPr>
          <p:cNvSpPr/>
          <p:nvPr/>
        </p:nvSpPr>
        <p:spPr>
          <a:xfrm>
            <a:off x="2033307" y="1987061"/>
            <a:ext cx="7920111" cy="2883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gency FB" panose="020B0503020202020204" pitchFamily="34" charset="0"/>
                <a:cs typeface="Poppins" pitchFamily="2" charset="77"/>
              </a:rPr>
              <a:t>THANK YOU</a:t>
            </a: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2178DE8C-3C46-CCAF-05C5-B66759B03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7974" y="2949411"/>
            <a:ext cx="2720827" cy="820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1463706"/>
      </p:ext>
    </p:extLst>
  </p:cSld>
  <p:clrMapOvr>
    <a:masterClrMapping/>
  </p:clrMapOvr>
</p:sld>
</file>

<file path=ppt/theme/theme1.xml><?xml version="1.0" encoding="utf-8"?>
<a:theme xmlns:a="http://schemas.openxmlformats.org/drawingml/2006/main" name="CoE PPT Templat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575</TotalTime>
  <Words>444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Agency FB</vt:lpstr>
      <vt:lpstr>Arial</vt:lpstr>
      <vt:lpstr>Bitter Medium</vt:lpstr>
      <vt:lpstr>Calibri</vt:lpstr>
      <vt:lpstr>Gill Sans MT</vt:lpstr>
      <vt:lpstr>Times New Roman</vt:lpstr>
      <vt:lpstr>Tw Cen MT Condensed</vt:lpstr>
      <vt:lpstr>CoE PPT Template</vt:lpstr>
      <vt:lpstr> </vt:lpstr>
      <vt:lpstr>                             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Interrupts of 8051</dc:title>
  <dc:creator>Admin</dc:creator>
  <cp:lastModifiedBy>Sai Charan</cp:lastModifiedBy>
  <cp:revision>53</cp:revision>
  <dcterms:created xsi:type="dcterms:W3CDTF">2023-05-02T07:10:15Z</dcterms:created>
  <dcterms:modified xsi:type="dcterms:W3CDTF">2026-02-28T18:42:23Z</dcterms:modified>
</cp:coreProperties>
</file>